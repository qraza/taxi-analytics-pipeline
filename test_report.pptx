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22222"/>
                </a:solidFill>
                <a:latin typeface="Calibri"/>
              </a:rPr>
              <a:t>NYC Taxi Performance — January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E6E6E"/>
                </a:solidFill>
                <a:latin typeface="Calibri"/>
              </a:rPr>
              <a:t>Generated July 13, 2026  ·  Source: NYC TLC Yellow Taxi trip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C78A8"/>
                </a:solidFill>
                <a:latin typeface="Calibri"/>
              </a:rPr>
              <a:t>Executive Summary — January 2024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8100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606040" cy="13716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0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4C78A8"/>
                </a:solidFill>
                <a:latin typeface="Calibri"/>
              </a:rPr>
              <a:t>2,723,370</a:t>
            </a:r>
          </a:p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Total Trips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64408" y="1463040"/>
            <a:ext cx="2606040" cy="13716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0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4C78A8"/>
                </a:solidFill>
                <a:latin typeface="Calibri"/>
              </a:rPr>
              <a:t>$74,626,484</a:t>
            </a:r>
          </a:p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Total 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71616" y="1463040"/>
            <a:ext cx="2606040" cy="13716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0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4C78A8"/>
                </a:solidFill>
                <a:latin typeface="Calibri"/>
              </a:rPr>
              <a:t>$18.43</a:t>
            </a:r>
          </a:p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Avg Fare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78824" y="1463040"/>
            <a:ext cx="2606040" cy="13716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0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4C78A8"/>
                </a:solidFill>
                <a:latin typeface="Calibri"/>
              </a:rPr>
              <a:t>15.8 min</a:t>
            </a:r>
          </a:p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Avg Duration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Calibri"/>
              </a:rPr>
              <a:t>✈  Airport trips: 10.1% of total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E6E"/>
                </a:solidFill>
                <a:latin typeface="Calibri"/>
              </a:rPr>
              <a:t>Source: NYC TLC trip records → dbt/DuckDB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C78A8"/>
                </a:solidFill>
                <a:latin typeface="Calibri"/>
              </a:rPr>
              <a:t>Daily Trend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8100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74552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E6E"/>
                </a:solidFill>
                <a:latin typeface="Calibri"/>
              </a:rPr>
              <a:t>Daily trip volume and revenue across the 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C78A8"/>
                </a:solidFill>
                <a:latin typeface="Calibri"/>
              </a:rPr>
              <a:t>Top 10 Zones by Revenue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8100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74552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E6E"/>
                </a:solidFill>
                <a:latin typeface="Calibri"/>
              </a:rPr>
              <a:t>Pickup zones ranked by total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C78A8"/>
                </a:solidFill>
                <a:latin typeface="Calibri"/>
              </a:rPr>
              <a:t>Demand Heatmap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8100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74552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E6E"/>
                </a:solidFill>
                <a:latin typeface="Calibri"/>
              </a:rPr>
              <a:t>Trip volume by day of week and pickup hour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C78A8"/>
                </a:solidFill>
                <a:latin typeface="Calibri"/>
              </a:rPr>
              <a:t>Methodology &amp;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8100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  <a:latin typeface="Calibri"/>
              </a:rPr>
              <a:t>Pipeline: TLC trip records → dbt/DuckDB → automated deck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6E6E6E"/>
                </a:solidFill>
                <a:latin typeface="Calibri"/>
              </a:rPr>
              <a:t>Repository: &lt;repo-url-placeholder&gt;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